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gH3XjyxIw8hHabjPrbg8yEauj+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5183188" y="987425"/>
            <a:ext cx="6172200" cy="4873625"/>
          </a:xfrm>
          <a:prstGeom prst="rect">
            <a:avLst/>
          </a:prstGeom>
          <a:noFill/>
          <a:ln>
            <a:noFill/>
          </a:ln>
        </p:spPr>
      </p:sp>
      <p:sp>
        <p:nvSpPr>
          <p:cNvPr id="68" name="Google Shape;68;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nvSpPr>
        <p:spPr>
          <a:xfrm>
            <a:off x="-1" y="1348004"/>
            <a:ext cx="12182060" cy="61469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s-MX" sz="1800" u="none" cap="none" strike="noStrike">
                <a:solidFill>
                  <a:schemeClr val="dk1"/>
                </a:solidFill>
                <a:latin typeface="Arial"/>
                <a:ea typeface="Arial"/>
                <a:cs typeface="Arial"/>
                <a:sym typeface="Arial"/>
              </a:rPr>
              <a:t>Tarea individual Semana 4: Prospecto Final de Oferta pública mixta en la BMV, Ago 2023.</a:t>
            </a:r>
            <a:endParaRPr/>
          </a:p>
        </p:txBody>
      </p:sp>
      <p:sp>
        <p:nvSpPr>
          <p:cNvPr id="89" name="Google Shape;89;p1"/>
          <p:cNvSpPr txBox="1"/>
          <p:nvPr>
            <p:ph idx="12" type="sldNum"/>
          </p:nvPr>
        </p:nvSpPr>
        <p:spPr>
          <a:xfrm>
            <a:off x="11489633" y="6492875"/>
            <a:ext cx="70236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90" name="Google Shape;90;p1"/>
          <p:cNvSpPr txBox="1"/>
          <p:nvPr/>
        </p:nvSpPr>
        <p:spPr>
          <a:xfrm>
            <a:off x="9939" y="720303"/>
            <a:ext cx="8600661" cy="5517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i="0" lang="es-MX" sz="2000" u="none" cap="none" strike="noStrike">
                <a:solidFill>
                  <a:schemeClr val="dk1"/>
                </a:solidFill>
                <a:latin typeface="Arial"/>
                <a:ea typeface="Arial"/>
                <a:cs typeface="Arial"/>
                <a:sym typeface="Arial"/>
              </a:rPr>
              <a:t>3. Fuentes de Financiamiento</a:t>
            </a:r>
            <a:endParaRPr/>
          </a:p>
          <a:p>
            <a:pPr indent="0" lvl="0" marL="0" marR="0" rtl="0" algn="l">
              <a:lnSpc>
                <a:spcPct val="90000"/>
              </a:lnSpc>
              <a:spcBef>
                <a:spcPts val="1000"/>
              </a:spcBef>
              <a:spcAft>
                <a:spcPts val="0"/>
              </a:spcAft>
              <a:buClr>
                <a:schemeClr val="dk1"/>
              </a:buClr>
              <a:buSzPts val="500"/>
              <a:buFont typeface="Arial"/>
              <a:buNone/>
            </a:pPr>
            <a:r>
              <a:t/>
            </a:r>
            <a:endParaRPr b="1" i="0" sz="500" u="none" cap="none" strike="noStrike">
              <a:solidFill>
                <a:schemeClr val="dk1"/>
              </a:solidFill>
              <a:latin typeface="Arial"/>
              <a:ea typeface="Arial"/>
              <a:cs typeface="Arial"/>
              <a:sym typeface="Arial"/>
            </a:endParaRPr>
          </a:p>
        </p:txBody>
      </p:sp>
      <p:pic>
        <p:nvPicPr>
          <p:cNvPr id="91" name="Google Shape;91;p1"/>
          <p:cNvPicPr preferRelativeResize="0"/>
          <p:nvPr/>
        </p:nvPicPr>
        <p:blipFill rotWithShape="1">
          <a:blip r:embed="rId3">
            <a:alphaModFix/>
          </a:blip>
          <a:srcRect b="0" l="0" r="0" t="0"/>
          <a:stretch/>
        </p:blipFill>
        <p:spPr>
          <a:xfrm>
            <a:off x="8270963" y="19912"/>
            <a:ext cx="3911097" cy="1113576"/>
          </a:xfrm>
          <a:prstGeom prst="rect">
            <a:avLst/>
          </a:prstGeom>
          <a:noFill/>
          <a:ln>
            <a:noFill/>
          </a:ln>
        </p:spPr>
      </p:pic>
      <p:sp>
        <p:nvSpPr>
          <p:cNvPr id="92" name="Google Shape;92;p1"/>
          <p:cNvSpPr/>
          <p:nvPr/>
        </p:nvSpPr>
        <p:spPr>
          <a:xfrm>
            <a:off x="9939" y="2065859"/>
            <a:ext cx="12182061" cy="4607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s-MX" sz="1800" u="none" cap="none" strike="noStrike">
                <a:solidFill>
                  <a:schemeClr val="dk1"/>
                </a:solidFill>
                <a:latin typeface="Arial"/>
                <a:ea typeface="Arial"/>
                <a:cs typeface="Arial"/>
                <a:sym typeface="Arial"/>
              </a:rPr>
              <a:t>Datos básicos:</a:t>
            </a:r>
            <a:endParaRPr/>
          </a:p>
          <a:p>
            <a:pPr indent="-285750" lvl="0" marL="285750" marR="0" rtl="0" algn="l">
              <a:spcBef>
                <a:spcPts val="0"/>
              </a:spcBef>
              <a:spcAft>
                <a:spcPts val="0"/>
              </a:spcAft>
              <a:buClr>
                <a:schemeClr val="dk1"/>
              </a:buClr>
              <a:buSzPts val="1700"/>
              <a:buFont typeface="Arial"/>
              <a:buChar char="•"/>
            </a:pPr>
            <a:r>
              <a:rPr b="1" lang="es-MX" sz="1700">
                <a:solidFill>
                  <a:schemeClr val="dk1"/>
                </a:solidFill>
                <a:latin typeface="Arial"/>
                <a:ea typeface="Arial"/>
                <a:cs typeface="Arial"/>
                <a:sym typeface="Arial"/>
              </a:rPr>
              <a:t>Empresa emisora: </a:t>
            </a:r>
            <a:r>
              <a:rPr b="1" lang="es-MX" sz="1700">
                <a:solidFill>
                  <a:srgbClr val="0C343D"/>
                </a:solidFill>
                <a:latin typeface="Arial"/>
                <a:ea typeface="Arial"/>
                <a:cs typeface="Arial"/>
                <a:sym typeface="Arial"/>
              </a:rPr>
              <a:t>Grupo  Vasconia S.A.B</a:t>
            </a:r>
            <a:endParaRPr>
              <a:solidFill>
                <a:srgbClr val="0C343D"/>
              </a:solidFill>
            </a:endParaRPr>
          </a:p>
          <a:p>
            <a:pPr indent="-285750" lvl="0" marL="285750" marR="0" rtl="0" algn="l">
              <a:spcBef>
                <a:spcPts val="0"/>
              </a:spcBef>
              <a:spcAft>
                <a:spcPts val="0"/>
              </a:spcAft>
              <a:buClr>
                <a:schemeClr val="dk1"/>
              </a:buClr>
              <a:buSzPts val="1700"/>
              <a:buFont typeface="Arial"/>
              <a:buChar char="•"/>
            </a:pPr>
            <a:r>
              <a:rPr b="1" lang="es-MX" sz="1700">
                <a:solidFill>
                  <a:schemeClr val="dk1"/>
                </a:solidFill>
                <a:latin typeface="Arial"/>
                <a:ea typeface="Arial"/>
                <a:cs typeface="Arial"/>
                <a:sym typeface="Arial"/>
              </a:rPr>
              <a:t>Giro comercial: </a:t>
            </a:r>
            <a:r>
              <a:rPr b="1" lang="es-MX" sz="1700">
                <a:solidFill>
                  <a:srgbClr val="3D85C6"/>
                </a:solidFill>
                <a:latin typeface="Arial"/>
                <a:ea typeface="Arial"/>
                <a:cs typeface="Arial"/>
                <a:sym typeface="Arial"/>
              </a:rPr>
              <a:t>Diseño</a:t>
            </a:r>
            <a:r>
              <a:rPr b="1" lang="es-MX" sz="1700">
                <a:solidFill>
                  <a:srgbClr val="3D85C6"/>
                </a:solidFill>
              </a:rPr>
              <a:t>, </a:t>
            </a:r>
            <a:r>
              <a:rPr b="1" lang="es-MX" sz="1700">
                <a:solidFill>
                  <a:srgbClr val="3D85C6"/>
                </a:solidFill>
              </a:rPr>
              <a:t>desarrollo</a:t>
            </a:r>
            <a:r>
              <a:rPr b="1" lang="es-MX" sz="1700">
                <a:solidFill>
                  <a:srgbClr val="3D85C6"/>
                </a:solidFill>
              </a:rPr>
              <a:t> y fabricación de utensilios y mobiliario de cocina</a:t>
            </a:r>
            <a:endParaRPr>
              <a:solidFill>
                <a:srgbClr val="3D85C6"/>
              </a:solidFill>
            </a:endParaRPr>
          </a:p>
          <a:p>
            <a:pPr indent="-285750" lvl="0" marL="285750" marR="0" rtl="0" algn="l">
              <a:spcBef>
                <a:spcPts val="0"/>
              </a:spcBef>
              <a:spcAft>
                <a:spcPts val="0"/>
              </a:spcAft>
              <a:buClr>
                <a:schemeClr val="dk1"/>
              </a:buClr>
              <a:buSzPts val="1700"/>
              <a:buFont typeface="Arial"/>
              <a:buChar char="•"/>
            </a:pPr>
            <a:r>
              <a:rPr b="1" lang="es-MX" sz="1700">
                <a:solidFill>
                  <a:schemeClr val="dk1"/>
                </a:solidFill>
                <a:latin typeface="Arial"/>
                <a:ea typeface="Arial"/>
                <a:cs typeface="Arial"/>
                <a:sym typeface="Arial"/>
              </a:rPr>
              <a:t>Método de emisión: </a:t>
            </a:r>
            <a:r>
              <a:rPr b="1" lang="es-MX" sz="1700">
                <a:solidFill>
                  <a:srgbClr val="3D85C6"/>
                </a:solidFill>
                <a:latin typeface="Arial"/>
                <a:ea typeface="Arial"/>
                <a:cs typeface="Arial"/>
                <a:sym typeface="Arial"/>
              </a:rPr>
              <a:t>Oferta </a:t>
            </a:r>
            <a:r>
              <a:rPr b="1" lang="es-MX" sz="1700">
                <a:solidFill>
                  <a:srgbClr val="3D85C6"/>
                </a:solidFill>
              </a:rPr>
              <a:t>al contado con “Movilidad de mejores esfuerzos”</a:t>
            </a:r>
            <a:endParaRPr>
              <a:solidFill>
                <a:srgbClr val="3D85C6"/>
              </a:solidFill>
            </a:endParaRPr>
          </a:p>
          <a:p>
            <a:pPr indent="-285750" lvl="0" marL="285750" marR="0" rtl="0" algn="l">
              <a:spcBef>
                <a:spcPts val="0"/>
              </a:spcBef>
              <a:spcAft>
                <a:spcPts val="0"/>
              </a:spcAft>
              <a:buClr>
                <a:schemeClr val="dk1"/>
              </a:buClr>
              <a:buSzPts val="1700"/>
              <a:buFont typeface="Arial"/>
              <a:buChar char="•"/>
            </a:pPr>
            <a:r>
              <a:rPr b="1" lang="es-MX" sz="1700">
                <a:solidFill>
                  <a:schemeClr val="dk1"/>
                </a:solidFill>
                <a:latin typeface="Arial"/>
                <a:ea typeface="Arial"/>
                <a:cs typeface="Arial"/>
                <a:sym typeface="Arial"/>
              </a:rPr>
              <a:t>Tipo de Valor o instrumento financiero: </a:t>
            </a:r>
            <a:r>
              <a:rPr b="1" lang="es-MX" sz="1700">
                <a:solidFill>
                  <a:srgbClr val="3D85C6"/>
                </a:solidFill>
                <a:latin typeface="Arial"/>
                <a:ea typeface="Arial"/>
                <a:cs typeface="Arial"/>
                <a:sym typeface="Arial"/>
              </a:rPr>
              <a:t>Acciones ordinarias </a:t>
            </a:r>
            <a:r>
              <a:rPr b="1" lang="es-MX" sz="1700">
                <a:solidFill>
                  <a:srgbClr val="3D85C6"/>
                </a:solidFill>
              </a:rPr>
              <a:t>nominativas</a:t>
            </a:r>
            <a:r>
              <a:rPr b="1" lang="es-MX" sz="1700">
                <a:solidFill>
                  <a:srgbClr val="3D85C6"/>
                </a:solidFill>
                <a:latin typeface="Arial"/>
                <a:ea typeface="Arial"/>
                <a:cs typeface="Arial"/>
                <a:sym typeface="Arial"/>
              </a:rPr>
              <a:t> serie única</a:t>
            </a:r>
            <a:endParaRPr>
              <a:solidFill>
                <a:srgbClr val="3D85C6"/>
              </a:solidFill>
            </a:endParaRPr>
          </a:p>
          <a:p>
            <a:pPr indent="-222250" lvl="0" marL="285750" marR="0" rtl="0" algn="l">
              <a:spcBef>
                <a:spcPts val="0"/>
              </a:spcBef>
              <a:spcAft>
                <a:spcPts val="0"/>
              </a:spcAft>
              <a:buClr>
                <a:schemeClr val="dk1"/>
              </a:buClr>
              <a:buSzPts val="1000"/>
              <a:buFont typeface="Arial"/>
              <a:buNone/>
            </a:pPr>
            <a:r>
              <a:t/>
            </a:r>
            <a:endParaRPr b="1" sz="1000">
              <a:solidFill>
                <a:schemeClr val="dk1"/>
              </a:solidFill>
              <a:latin typeface="Arial"/>
              <a:ea typeface="Arial"/>
              <a:cs typeface="Arial"/>
              <a:sym typeface="Arial"/>
            </a:endParaRPr>
          </a:p>
          <a:p>
            <a:pPr indent="0" lvl="0" marL="0" marR="0" rtl="0" algn="l">
              <a:spcBef>
                <a:spcPts val="0"/>
              </a:spcBef>
              <a:spcAft>
                <a:spcPts val="0"/>
              </a:spcAft>
              <a:buNone/>
            </a:pPr>
            <a:r>
              <a:rPr b="1" lang="es-MX" sz="1800">
                <a:solidFill>
                  <a:schemeClr val="dk1"/>
                </a:solidFill>
                <a:latin typeface="Arial"/>
                <a:ea typeface="Arial"/>
                <a:cs typeface="Arial"/>
                <a:sym typeface="Arial"/>
              </a:rPr>
              <a:t>Responda las siguientes Preguntas:</a:t>
            </a:r>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es el Monto total de recursos que estima levantar u obtener la empresa con la Oferta pública Global sin sobreasignación?  </a:t>
            </a:r>
            <a:r>
              <a:rPr lang="es-MX" sz="1600">
                <a:solidFill>
                  <a:srgbClr val="0B5394"/>
                </a:solidFill>
                <a:latin typeface="Arial"/>
                <a:ea typeface="Arial"/>
                <a:cs typeface="Arial"/>
                <a:sym typeface="Arial"/>
              </a:rPr>
              <a:t>$290.00 MDP</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es el Precio de colocación o de Oferta por Acción? </a:t>
            </a:r>
            <a:r>
              <a:rPr lang="es-MX" sz="1600">
                <a:solidFill>
                  <a:srgbClr val="0B5394"/>
                </a:solidFill>
                <a:latin typeface="Arial"/>
                <a:ea typeface="Arial"/>
                <a:cs typeface="Arial"/>
                <a:sym typeface="Arial"/>
              </a:rPr>
              <a:t>MXN$29 po</a:t>
            </a:r>
            <a:r>
              <a:rPr lang="es-MX" sz="1600">
                <a:solidFill>
                  <a:srgbClr val="0B5394"/>
                </a:solidFill>
              </a:rPr>
              <a:t>r </a:t>
            </a:r>
            <a:r>
              <a:rPr lang="es-MX" sz="1600">
                <a:solidFill>
                  <a:srgbClr val="0B5394"/>
                </a:solidFill>
              </a:rPr>
              <a:t>acción</a:t>
            </a:r>
            <a:r>
              <a:rPr lang="es-MX" sz="1600">
                <a:solidFill>
                  <a:srgbClr val="0B5394"/>
                </a:solidFill>
              </a:rPr>
              <a:t> precio de mercado</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es la denominación de la moneda de la Oferta? </a:t>
            </a:r>
            <a:r>
              <a:rPr lang="es-MX" sz="1600">
                <a:solidFill>
                  <a:srgbClr val="0B5394"/>
                </a:solidFill>
                <a:latin typeface="Arial"/>
                <a:ea typeface="Arial"/>
                <a:cs typeface="Arial"/>
                <a:sym typeface="Arial"/>
              </a:rPr>
              <a:t>Pesos mexicanos</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es el No. total de Acciones objeto de la Oferta pública Global sin sobreasignación? </a:t>
            </a:r>
            <a:r>
              <a:rPr lang="es-MX" sz="1600">
                <a:solidFill>
                  <a:srgbClr val="0B5394"/>
                </a:solidFill>
                <a:latin typeface="Arial"/>
                <a:ea typeface="Arial"/>
                <a:cs typeface="Arial"/>
                <a:sym typeface="Arial"/>
              </a:rPr>
              <a:t>10,000,000</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Qué Bancos o Casas de Bolsa son los Intermediarios colocadores? </a:t>
            </a:r>
            <a:r>
              <a:rPr lang="es-MX" sz="1600">
                <a:solidFill>
                  <a:srgbClr val="0B5394"/>
                </a:solidFill>
                <a:latin typeface="Arial"/>
                <a:ea typeface="Arial"/>
                <a:cs typeface="Arial"/>
                <a:sym typeface="Arial"/>
              </a:rPr>
              <a:t>Actinver, Punto de </a:t>
            </a:r>
            <a:r>
              <a:rPr lang="es-MX" sz="1600">
                <a:solidFill>
                  <a:srgbClr val="0B5394"/>
                </a:solidFill>
              </a:rPr>
              <a:t>C</a:t>
            </a:r>
            <a:r>
              <a:rPr lang="es-MX" sz="1600">
                <a:solidFill>
                  <a:srgbClr val="0B5394"/>
                </a:solidFill>
                <a:latin typeface="Arial"/>
                <a:ea typeface="Arial"/>
                <a:cs typeface="Arial"/>
                <a:sym typeface="Arial"/>
              </a:rPr>
              <a:t>asa de Bolsa y B</a:t>
            </a:r>
            <a:r>
              <a:rPr lang="es-MX" sz="1600">
                <a:solidFill>
                  <a:srgbClr val="0B5394"/>
                </a:solidFill>
              </a:rPr>
              <a:t>X+</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Qué tipo de Oferta es? </a:t>
            </a:r>
            <a:r>
              <a:rPr lang="es-MX" sz="1600">
                <a:solidFill>
                  <a:srgbClr val="0B5394"/>
                </a:solidFill>
                <a:latin typeface="Arial"/>
                <a:ea typeface="Arial"/>
                <a:cs typeface="Arial"/>
                <a:sym typeface="Arial"/>
              </a:rPr>
              <a:t>Es una oferta </a:t>
            </a:r>
            <a:r>
              <a:rPr lang="es-MX" sz="1600">
                <a:solidFill>
                  <a:srgbClr val="0B5394"/>
                </a:solidFill>
              </a:rPr>
              <a:t>pública</a:t>
            </a:r>
            <a:r>
              <a:rPr lang="es-MX" sz="1600">
                <a:solidFill>
                  <a:srgbClr val="0B5394"/>
                </a:solidFill>
                <a:latin typeface="Arial"/>
                <a:ea typeface="Arial"/>
                <a:cs typeface="Arial"/>
                <a:sym typeface="Arial"/>
              </a:rPr>
              <a:t> mixta subsecuente (</a:t>
            </a:r>
            <a:r>
              <a:rPr i="1" lang="es-MX" sz="1600">
                <a:solidFill>
                  <a:srgbClr val="0B5394"/>
                </a:solidFill>
                <a:latin typeface="Arial"/>
                <a:ea typeface="Arial"/>
                <a:cs typeface="Arial"/>
                <a:sym typeface="Arial"/>
              </a:rPr>
              <a:t>follow-on</a:t>
            </a:r>
            <a:r>
              <a:rPr lang="es-MX" sz="1600">
                <a:solidFill>
                  <a:srgbClr val="0B5394"/>
                </a:solidFill>
                <a:latin typeface="Arial"/>
                <a:ea typeface="Arial"/>
                <a:cs typeface="Arial"/>
                <a:sym typeface="Arial"/>
              </a:rPr>
              <a:t>) de acciones</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es el Costo total de flotación de la Oferta Pública Global en por ciento con IVA con respecto al monto total de la Oferta Pública Global sin considerar la sobreasignación? (</a:t>
            </a:r>
            <a:r>
              <a:rPr lang="es-MX" sz="1600">
                <a:solidFill>
                  <a:srgbClr val="0B5394"/>
                </a:solidFill>
                <a:latin typeface="Arial"/>
                <a:ea typeface="Arial"/>
                <a:cs typeface="Arial"/>
                <a:sym typeface="Arial"/>
              </a:rPr>
              <a:t>16.54 MDP/290 MDP)*100=5.70%</a:t>
            </a:r>
            <a:r>
              <a:rPr lang="es-MX" sz="1600">
                <a:latin typeface="Arial"/>
                <a:ea typeface="Arial"/>
                <a:cs typeface="Arial"/>
                <a:sym typeface="Arial"/>
              </a:rPr>
              <a:t>)</a:t>
            </a:r>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será el destino de los recursos obtenidos con la Oferta pública Global? </a:t>
            </a:r>
            <a:r>
              <a:rPr lang="es-MX" sz="1600">
                <a:solidFill>
                  <a:srgbClr val="0B5394"/>
                </a:solidFill>
                <a:latin typeface="Arial"/>
                <a:ea typeface="Arial"/>
                <a:cs typeface="Arial"/>
                <a:sym typeface="Arial"/>
              </a:rPr>
              <a:t>Inversiones de capital (Capex) y fortalecer el CT</a:t>
            </a:r>
            <a:endParaRPr>
              <a:solidFill>
                <a:srgbClr val="0B5394"/>
              </a:solidFill>
            </a:endParaRPr>
          </a:p>
          <a:p>
            <a:pPr indent="-342900" lvl="0" marL="342900" marR="0" rtl="0" algn="l">
              <a:spcBef>
                <a:spcPts val="0"/>
              </a:spcBef>
              <a:spcAft>
                <a:spcPts val="0"/>
              </a:spcAft>
              <a:buClr>
                <a:schemeClr val="dk1"/>
              </a:buClr>
              <a:buSzPts val="1600"/>
              <a:buFont typeface="Calibri"/>
              <a:buAutoNum type="arabicPeriod"/>
            </a:pPr>
            <a:r>
              <a:rPr lang="es-MX" sz="1600">
                <a:solidFill>
                  <a:schemeClr val="dk1"/>
                </a:solidFill>
                <a:latin typeface="Arial"/>
                <a:ea typeface="Arial"/>
                <a:cs typeface="Arial"/>
                <a:sym typeface="Arial"/>
              </a:rPr>
              <a:t>Cuál es la matrícula de registro de estos valores en el Registro Nacional de Valores (RNV) de México? </a:t>
            </a:r>
            <a:r>
              <a:rPr lang="es-MX" sz="1600">
                <a:solidFill>
                  <a:srgbClr val="0B5394"/>
                </a:solidFill>
                <a:latin typeface="Arial"/>
                <a:ea typeface="Arial"/>
                <a:cs typeface="Arial"/>
                <a:sym typeface="Arial"/>
              </a:rPr>
              <a:t>1729-1.00-2021-007</a:t>
            </a:r>
            <a:endParaRPr sz="1600">
              <a:solidFill>
                <a:srgbClr val="0B5394"/>
              </a:solidFill>
              <a:latin typeface="Arial"/>
              <a:ea typeface="Arial"/>
              <a:cs typeface="Arial"/>
              <a:sym typeface="Arial"/>
            </a:endParaRPr>
          </a:p>
        </p:txBody>
      </p:sp>
      <p:sp>
        <p:nvSpPr>
          <p:cNvPr id="93" name="Google Shape;93;p1"/>
          <p:cNvSpPr/>
          <p:nvPr/>
        </p:nvSpPr>
        <p:spPr>
          <a:xfrm>
            <a:off x="0" y="1"/>
            <a:ext cx="4667534" cy="554182"/>
          </a:xfrm>
          <a:prstGeom prst="roundRect">
            <a:avLst>
              <a:gd fmla="val 16667" name="adj"/>
            </a:avLst>
          </a:prstGeom>
          <a:solidFill>
            <a:srgbClr val="323F4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700">
                <a:solidFill>
                  <a:schemeClr val="lt1"/>
                </a:solidFill>
                <a:latin typeface="Arial"/>
                <a:ea typeface="Arial"/>
                <a:cs typeface="Arial"/>
                <a:sym typeface="Arial"/>
              </a:rPr>
              <a:t>UEA: Finanzas Corporativas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2019-01-13T13:57:45Z</dcterms:created>
  <dc:creator>Lorenzo Arellano</dc:creator>
</cp:coreProperties>
</file>